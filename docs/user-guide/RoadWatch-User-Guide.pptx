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6bfa7e5-68c5-6684-1e4e-26054a169337}">
          <p14:sldIdLst>
            <p14:sldId id="256"/>
            <p14:sldId id="257"/>
            <p14:sldId id="258"/>
            <p14:sldId id="259"/>
            <p14:sldId id="260"/>
          </p14:sldIdLst>
        </p14:section>
        <p14:section name="Reporter (Android app)" id="{04cc345e-2b39-d473-5214-0d990c8af89c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raffic Officer" id="{e98889f0-0657-f002-59cd-a06478b06900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Administrator (website)" id="{68c4e413-d197-8de4-dbac-f9d4ca8a0e22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For everyone" id="{528e0604-770b-91a9-ab99-0f51f185dd15}">
          <p14:sldIdLst>
            <p14:sldId id="289"/>
            <p14:sldId id="290"/>
            <p14:sldId id="291"/>
            <p14:sldId id="292"/>
            <p14:sldId id="293"/>
          </p14:sldIdLst>
        </p14:section>
        <p14:section name="Closing" id="{246c0ba9-1022-4161-6261-cf8d8871afeb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shows how each of the three roles uses RoadWatch 1.2.0: the Reporter on the Android app, the Traffic Officer on the app or the website, and the Administrator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register themselves in the app. Traffic Officers are created by an administrator. The first administrator is created by the team when the system is installed.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1.2.0 adds the four improvements recommended at the system defense. Slides with the amber NEW IN 1.2 tag explain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 only: there is no iPhone app. The APK is installed directly, so Android asks to allow installs from the browser or file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Reporters use only the Android app. The website is for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new account made in the app is a Reporter. Officer and administrator accounts are made by an administrator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Officers have the same Guide on the Assigned tab (4 steps). On the website the Guide is in the top bar, or in the account menu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Officer accounts are created by an administrator, who gives the officer a temporary password. Change it after the first sign-in.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Administrators use only the website. The first administrator account is created by the team with the seed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audience. Mention the demo clips in each app and the promotional video on the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W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W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RoadWatch User Guide  ·  v1.2.0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W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RoadWatch User Guide  ·  v1.2.0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 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88000"/>
            </a:schemeClr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3" name="Emblem" descr="RoadWatch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92024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ROADWATCH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User Guide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57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Report road accidents from your phone. Verify, assign, respond and close them as staff.</a:t>
            </a:r>
            <a:endParaRPr lang="en-US" sz="1800" dirty="0"/>
          </a:p>
        </p:txBody>
      </p:sp>
      <p:sp>
        <p:nvSpPr>
          <p:cNvPr id="7" name="Version pill"/>
          <p:cNvSpPr/>
          <p:nvPr/>
        </p:nvSpPr>
        <p:spPr>
          <a:xfrm>
            <a:off x="731520" y="507492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Version"/>
          <p:cNvSpPr txBox="1"/>
          <p:nvPr/>
        </p:nvSpPr>
        <p:spPr>
          <a:xfrm>
            <a:off x="731520" y="5074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Version 1.2.0</a:t>
            </a:r>
            <a:endParaRPr lang="en-US" sz="1500" dirty="0"/>
          </a:p>
        </p:txBody>
      </p:sp>
      <p:sp>
        <p:nvSpPr>
          <p:cNvPr id="9" name="Date and site"/>
          <p:cNvSpPr txBox="1"/>
          <p:nvPr/>
        </p:nvSpPr>
        <p:spPr>
          <a:xfrm>
            <a:off x="3337560" y="5074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November 2026  ·  www.roadwatch-ph.me</a:t>
            </a:r>
            <a:endParaRPr lang="en-US" sz="1500" dirty="0"/>
          </a:p>
        </p:txBody>
      </p:sp>
      <p:sp>
        <p:nvSpPr>
          <p:cNvPr id="10" name="Team"/>
          <p:cNvSpPr txBox="1"/>
          <p:nvPr/>
        </p:nvSpPr>
        <p:spPr>
          <a:xfrm>
            <a:off x="73152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Prepared by Princess Lorellyn Isip, Documentation Lead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Lenon Adriano, Pauline Lapuz and Carl Ernest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this guide covers</a:t>
            </a:r>
            <a:endParaRPr lang="en-US" sz="3000" dirty="0"/>
          </a:p>
        </p:txBody>
      </p:sp>
      <p:sp>
        <p:nvSpPr>
          <p:cNvPr id="3" name="Reporter card"/>
          <p:cNvSpPr/>
          <p:nvPr/>
        </p:nvSpPr>
        <p:spPr>
          <a:xfrm>
            <a:off x="457200" y="132588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Reporter number"/>
          <p:cNvSpPr txBox="1"/>
          <p:nvPr/>
        </p:nvSpPr>
        <p:spPr>
          <a:xfrm>
            <a:off x="777240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01</a:t>
            </a:r>
            <a:endParaRPr lang="en-US" sz="4800" dirty="0"/>
          </a:p>
        </p:txBody>
      </p:sp>
      <p:sp>
        <p:nvSpPr>
          <p:cNvPr id="5" name="Reporter title"/>
          <p:cNvSpPr txBox="1"/>
          <p:nvPr/>
        </p:nvSpPr>
        <p:spPr>
          <a:xfrm>
            <a:off x="21945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Reporter</a:t>
            </a:r>
            <a:endParaRPr lang="en-US" sz="2200" dirty="0"/>
          </a:p>
        </p:txBody>
      </p:sp>
      <p:sp>
        <p:nvSpPr>
          <p:cNvPr id="6" name="Reporter summary"/>
          <p:cNvSpPr txBox="1"/>
          <p:nvPr/>
        </p:nvSpPr>
        <p:spPr>
          <a:xfrm>
            <a:off x="2194560" y="21488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Android app: register, report an accident with place and photos, track it, use the guide.</a:t>
            </a:r>
            <a:endParaRPr lang="en-US" sz="1500" dirty="0"/>
          </a:p>
        </p:txBody>
      </p:sp>
      <p:sp>
        <p:nvSpPr>
          <p:cNvPr id="7" name="Traffic Officer card"/>
          <p:cNvSpPr/>
          <p:nvPr/>
        </p:nvSpPr>
        <p:spPr>
          <a:xfrm>
            <a:off x="6172200" y="132588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raffic Officer number"/>
          <p:cNvSpPr txBox="1"/>
          <p:nvPr/>
        </p:nvSpPr>
        <p:spPr>
          <a:xfrm>
            <a:off x="6492240" y="16002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02</a:t>
            </a:r>
            <a:endParaRPr lang="en-US" sz="4800" dirty="0"/>
          </a:p>
        </p:txBody>
      </p:sp>
      <p:sp>
        <p:nvSpPr>
          <p:cNvPr id="9" name="Traffic Officer title"/>
          <p:cNvSpPr txBox="1"/>
          <p:nvPr/>
        </p:nvSpPr>
        <p:spPr>
          <a:xfrm>
            <a:off x="790956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Traffic Officer</a:t>
            </a:r>
            <a:endParaRPr lang="en-US" sz="2200" dirty="0"/>
          </a:p>
        </p:txBody>
      </p:sp>
      <p:sp>
        <p:nvSpPr>
          <p:cNvPr id="10" name="Traffic Officer summary"/>
          <p:cNvSpPr txBox="1"/>
          <p:nvPr/>
        </p:nvSpPr>
        <p:spPr>
          <a:xfrm>
            <a:off x="7909560" y="21488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App or website: go on duty, respond to nearby accidents, work assigned reports.</a:t>
            </a:r>
            <a:endParaRPr lang="en-US" sz="1500" dirty="0"/>
          </a:p>
        </p:txBody>
      </p:sp>
      <p:sp>
        <p:nvSpPr>
          <p:cNvPr id="11" name="Administrator card"/>
          <p:cNvSpPr/>
          <p:nvPr/>
        </p:nvSpPr>
        <p:spPr>
          <a:xfrm>
            <a:off x="457200" y="374904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Administrator number"/>
          <p:cNvSpPr txBox="1"/>
          <p:nvPr/>
        </p:nvSpPr>
        <p:spPr>
          <a:xfrm>
            <a:off x="777240" y="4023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03</a:t>
            </a:r>
            <a:endParaRPr lang="en-US" sz="4800" dirty="0"/>
          </a:p>
        </p:txBody>
      </p:sp>
      <p:sp>
        <p:nvSpPr>
          <p:cNvPr id="13" name="Administrator title"/>
          <p:cNvSpPr txBox="1"/>
          <p:nvPr/>
        </p:nvSpPr>
        <p:spPr>
          <a:xfrm>
            <a:off x="21945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Administrator</a:t>
            </a:r>
            <a:endParaRPr lang="en-US" sz="2200" dirty="0"/>
          </a:p>
        </p:txBody>
      </p:sp>
      <p:sp>
        <p:nvSpPr>
          <p:cNvPr id="14" name="Administrator summary"/>
          <p:cNvSpPr txBox="1"/>
          <p:nvPr/>
        </p:nvSpPr>
        <p:spPr>
          <a:xfrm>
            <a:off x="2194560" y="4572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Website: priorities, verify and assign, users and alert range, summaries.</a:t>
            </a:r>
            <a:endParaRPr lang="en-US" sz="1500" dirty="0"/>
          </a:p>
        </p:txBody>
      </p:sp>
      <p:sp>
        <p:nvSpPr>
          <p:cNvPr id="15" name="Good to know card"/>
          <p:cNvSpPr/>
          <p:nvPr/>
        </p:nvSpPr>
        <p:spPr>
          <a:xfrm>
            <a:off x="6172200" y="374904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Good to know number"/>
          <p:cNvSpPr txBox="1"/>
          <p:nvPr/>
        </p:nvSpPr>
        <p:spPr>
          <a:xfrm>
            <a:off x="6492240" y="40233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04</a:t>
            </a:r>
            <a:endParaRPr lang="en-US" sz="4800" dirty="0"/>
          </a:p>
        </p:txBody>
      </p:sp>
      <p:sp>
        <p:nvSpPr>
          <p:cNvPr id="17" name="Good to know title"/>
          <p:cNvSpPr txBox="1"/>
          <p:nvPr/>
        </p:nvSpPr>
        <p:spPr>
          <a:xfrm>
            <a:off x="790956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Good to know</a:t>
            </a:r>
            <a:endParaRPr lang="en-US" sz="2200" dirty="0"/>
          </a:p>
        </p:txBody>
      </p:sp>
      <p:sp>
        <p:nvSpPr>
          <p:cNvPr id="18" name="Good to know summary"/>
          <p:cNvSpPr txBox="1"/>
          <p:nvPr/>
        </p:nvSpPr>
        <p:spPr>
          <a:xfrm>
            <a:off x="7909560" y="45720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website guide, your account, troubleshooting, privacy and accessibility.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system, three roles</a:t>
            </a:r>
            <a:endParaRPr lang="en-US" sz="3000" dirty="0"/>
          </a:p>
        </p:txBody>
      </p:sp>
      <p:sp>
        <p:nvSpPr>
          <p:cNvPr id="3" name="Reporter card"/>
          <p:cNvSpPr/>
          <p:nvPr/>
        </p:nvSpPr>
        <p:spPr>
          <a:xfrm>
            <a:off x="457200" y="1325880"/>
            <a:ext cx="3566160" cy="42519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4" name="Reporter icon circle"/>
          <p:cNvSpPr/>
          <p:nvPr/>
        </p:nvSpPr>
        <p:spPr>
          <a:xfrm>
            <a:off x="77724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Reporter icon" descr="Report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47088"/>
            <a:ext cx="466344" cy="4663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Reporter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Android app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Anyone who sees a road accident. Registers, sends a report with the place and photos, and follows its status.</a:t>
            </a:r>
            <a:endParaRPr lang="en-US" sz="1500" dirty="0"/>
          </a:p>
        </p:txBody>
      </p:sp>
      <p:sp>
        <p:nvSpPr>
          <p:cNvPr id="9" name="Traffic Officer card"/>
          <p:cNvSpPr/>
          <p:nvPr/>
        </p:nvSpPr>
        <p:spPr>
          <a:xfrm>
            <a:off x="4297680" y="1325880"/>
            <a:ext cx="3566160" cy="42519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raffic Officer icon circle"/>
          <p:cNvSpPr/>
          <p:nvPr/>
        </p:nvSpPr>
        <p:spPr>
          <a:xfrm>
            <a:off x="461772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Traffic Officer icon" descr="Traffic Offic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847088"/>
            <a:ext cx="466344" cy="4663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Traffic Officer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Android app or website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Created by an administrator. Responds to nearby accidents while on duty and works the reports assigned to them.</a:t>
            </a:r>
            <a:endParaRPr lang="en-US" sz="1500" dirty="0"/>
          </a:p>
        </p:txBody>
      </p:sp>
      <p:sp>
        <p:nvSpPr>
          <p:cNvPr id="15" name="Administrator card"/>
          <p:cNvSpPr/>
          <p:nvPr/>
        </p:nvSpPr>
        <p:spPr>
          <a:xfrm>
            <a:off x="8138160" y="1325880"/>
            <a:ext cx="3566160" cy="425196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Administrator icon circle"/>
          <p:cNvSpPr/>
          <p:nvPr/>
        </p:nvSpPr>
        <p:spPr>
          <a:xfrm>
            <a:off x="845820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Administrator icon" descr="Administrat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84708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2697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Administrator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Website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6118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Reviews and verifies reports, sets priorities, assigns officers, manages accounts and exports summaries.</a:t>
            </a:r>
            <a:endParaRPr lang="en-US" sz="1500" dirty="0"/>
          </a:p>
        </p:txBody>
      </p:sp>
      <p:sp>
        <p:nvSpPr>
          <p:cNvPr id="21" name="Workflow line"/>
          <p:cNvSpPr txBox="1"/>
          <p:nvPr/>
        </p:nvSpPr>
        <p:spPr>
          <a:xfrm>
            <a:off x="457200" y="57150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report travels: Reporter sends it  →  a nearby officer confirms it on scene, or an administrator verifies and assigns  →  the officer works the case  →  the Reporter sees each status and gets an email.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new in version 1.2.0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Report priority card"/>
          <p:cNvSpPr/>
          <p:nvPr/>
        </p:nvSpPr>
        <p:spPr>
          <a:xfrm>
            <a:off x="457200" y="132588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Report priority icon circle"/>
          <p:cNvSpPr/>
          <p:nvPr/>
        </p:nvSpPr>
        <p:spPr>
          <a:xfrm>
            <a:off x="77724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Report priority icon" descr="Report prior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47088"/>
            <a:ext cx="466344" cy="466344"/>
          </a:xfrm>
          <a:prstGeom prst="rect">
            <a:avLst/>
          </a:prstGeom>
        </p:spPr>
      </p:pic>
      <p:sp>
        <p:nvSpPr>
          <p:cNvPr id="8" name="Report priority title"/>
          <p:cNvSpPr txBox="1"/>
          <p:nvPr/>
        </p:nvSpPr>
        <p:spPr>
          <a:xfrm>
            <a:off x="18745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Report priority</a:t>
            </a:r>
            <a:endParaRPr lang="en-US" sz="2000" dirty="0"/>
          </a:p>
        </p:txBody>
      </p:sp>
      <p:sp>
        <p:nvSpPr>
          <p:cNvPr id="9" name="Report priority text"/>
          <p:cNvSpPr txBox="1"/>
          <p:nvPr/>
        </p:nvSpPr>
        <p:spPr>
          <a:xfrm>
            <a:off x="1874520" y="2148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report gets Low, Medium, High or Urgent from its type and injuries. Staff sort by it; an administrator can change it.</a:t>
            </a:r>
            <a:endParaRPr lang="en-US" sz="1500" dirty="0"/>
          </a:p>
        </p:txBody>
      </p:sp>
      <p:sp>
        <p:nvSpPr>
          <p:cNvPr id="10" name="Nearby on-duty officers card"/>
          <p:cNvSpPr/>
          <p:nvPr/>
        </p:nvSpPr>
        <p:spPr>
          <a:xfrm>
            <a:off x="6172200" y="132588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Nearby on-duty officers icon circle"/>
          <p:cNvSpPr/>
          <p:nvPr/>
        </p:nvSpPr>
        <p:spPr>
          <a:xfrm>
            <a:off x="6492240" y="164592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Nearby on-duty officers icon" descr="Nearby on-duty offic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847088"/>
            <a:ext cx="466344" cy="466344"/>
          </a:xfrm>
          <a:prstGeom prst="rect">
            <a:avLst/>
          </a:prstGeom>
        </p:spPr>
      </p:pic>
      <p:sp>
        <p:nvSpPr>
          <p:cNvPr id="13" name="Nearby on-duty officers title"/>
          <p:cNvSpPr txBox="1"/>
          <p:nvPr/>
        </p:nvSpPr>
        <p:spPr>
          <a:xfrm>
            <a:off x="75895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Nearby on-duty officers</a:t>
            </a:r>
            <a:endParaRPr lang="en-US" sz="2000" dirty="0"/>
          </a:p>
        </p:txBody>
      </p:sp>
      <p:sp>
        <p:nvSpPr>
          <p:cNvPr id="14" name="Nearby on-duty officers text"/>
          <p:cNvSpPr txBox="1"/>
          <p:nvPr/>
        </p:nvSpPr>
        <p:spPr>
          <a:xfrm>
            <a:off x="7589520" y="21488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new report alerts up to 3 on-duty officers nearby. The first to respond confirms or rejects it on scene.</a:t>
            </a:r>
            <a:endParaRPr lang="en-US" sz="1500" dirty="0"/>
          </a:p>
        </p:txBody>
      </p:sp>
      <p:sp>
        <p:nvSpPr>
          <p:cNvPr id="15" name="Users toolbar card"/>
          <p:cNvSpPr/>
          <p:nvPr/>
        </p:nvSpPr>
        <p:spPr>
          <a:xfrm>
            <a:off x="457200" y="374904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Users toolbar icon circle"/>
          <p:cNvSpPr/>
          <p:nvPr/>
        </p:nvSpPr>
        <p:spPr>
          <a:xfrm>
            <a:off x="777240" y="40690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Users toolbar icon" descr="Users toolba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70248"/>
            <a:ext cx="466344" cy="466344"/>
          </a:xfrm>
          <a:prstGeom prst="rect">
            <a:avLst/>
          </a:prstGeom>
        </p:spPr>
      </p:pic>
      <p:sp>
        <p:nvSpPr>
          <p:cNvPr id="18" name="Users toolbar title"/>
          <p:cNvSpPr txBox="1"/>
          <p:nvPr/>
        </p:nvSpPr>
        <p:spPr>
          <a:xfrm>
            <a:off x="18745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Users toolbar</a:t>
            </a:r>
            <a:endParaRPr lang="en-US" sz="2000" dirty="0"/>
          </a:p>
        </p:txBody>
      </p:sp>
      <p:sp>
        <p:nvSpPr>
          <p:cNvPr id="19" name="Users toolbar text"/>
          <p:cNvSpPr txBox="1"/>
          <p:nvPr/>
        </p:nvSpPr>
        <p:spPr>
          <a:xfrm>
            <a:off x="1874520" y="4572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Select an account, then Edit or Create officer from one toolbar. Edit now also changes name and phone.</a:t>
            </a:r>
            <a:endParaRPr lang="en-US" sz="1500" dirty="0"/>
          </a:p>
        </p:txBody>
      </p:sp>
      <p:sp>
        <p:nvSpPr>
          <p:cNvPr id="20" name="Guide and Read aloud card"/>
          <p:cNvSpPr/>
          <p:nvPr/>
        </p:nvSpPr>
        <p:spPr>
          <a:xfrm>
            <a:off x="6172200" y="3749040"/>
            <a:ext cx="548640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Guide and Read aloud icon circle"/>
          <p:cNvSpPr/>
          <p:nvPr/>
        </p:nvSpPr>
        <p:spPr>
          <a:xfrm>
            <a:off x="6492240" y="40690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Guide and Read aloud icon" descr="Guide and Read alou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270248"/>
            <a:ext cx="466344" cy="466344"/>
          </a:xfrm>
          <a:prstGeom prst="rect">
            <a:avLst/>
          </a:prstGeom>
        </p:spPr>
      </p:pic>
      <p:sp>
        <p:nvSpPr>
          <p:cNvPr id="23" name="Guide and Read aloud title"/>
          <p:cNvSpPr txBox="1"/>
          <p:nvPr/>
        </p:nvSpPr>
        <p:spPr>
          <a:xfrm>
            <a:off x="7589520" y="4069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Guide and Read aloud</a:t>
            </a:r>
            <a:endParaRPr lang="en-US" sz="2000" dirty="0"/>
          </a:p>
        </p:txBody>
      </p:sp>
      <p:sp>
        <p:nvSpPr>
          <p:cNvPr id="24" name="Guide and Read aloud text"/>
          <p:cNvSpPr txBox="1"/>
          <p:nvPr/>
        </p:nvSpPr>
        <p:spPr>
          <a:xfrm>
            <a:off x="7589520" y="4572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step-by-step tour of each main screen, with optional Read aloud and a reading speed.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Getting started</a:t>
            </a:r>
            <a:endParaRPr lang="en-US" sz="3000" dirty="0"/>
          </a:p>
        </p:txBody>
      </p:sp>
      <p:sp>
        <p:nvSpPr>
          <p:cNvPr id="3" name="Get the Android app icon circle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Get the Android app icon" descr="Get the Android ap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280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Get the Android app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Open www.roadwatch-ph.me/app on an Android phone, or press "Get the Android app" on the website. Open roadwatch.apk and allow installs from this source when Android asks.</a:t>
            </a:r>
            <a:endParaRPr lang="en-US" sz="2000" dirty="0"/>
          </a:p>
        </p:txBody>
      </p:sp>
      <p:sp>
        <p:nvSpPr>
          <p:cNvPr id="6" name="Open the website icon circle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Open the website icon" descr="Open the websi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8803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Open the website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www.roadwatch-ph.me in any up-to-date browser (Chrome, Edge, Firefox, Safari). Staff sign in from "Staff sign-in" in the footer.</a:t>
            </a:r>
            <a:endParaRPr lang="en-US" sz="2000" dirty="0"/>
          </a:p>
        </p:txBody>
      </p:sp>
      <p:sp>
        <p:nvSpPr>
          <p:cNvPr id="9" name="First request of the day icon circle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First request of the day icon" descr="First request of the da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91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First request of the day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The server sleeps when nobody uses it. The first sign-in can take up to a minute; the app says the server may be waking up. Wait and try again.</a:t>
            </a:r>
            <a:endParaRPr lang="en-US" sz="2000" dirty="0"/>
          </a:p>
        </p:txBody>
      </p:sp>
      <p:sp>
        <p:nvSpPr>
          <p:cNvPr id="12" name="Screen frame"/>
          <p:cNvSpPr/>
          <p:nvPr/>
        </p:nvSpPr>
        <p:spPr>
          <a:xfrm>
            <a:off x="6931152" y="1307592"/>
            <a:ext cx="4791456" cy="3417824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13" name="Screen: web/w0-landing-1440.png" descr="RoadWatch public landing page with Get the Android 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4754880" cy="33812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49440" y="4846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public website: road updates, hotlines, safety tips, the app download and the promotional video.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Reporter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Register, report an accident with its place and photos, and follow every status update in the Android app.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73152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6" name="Section icon circle"/>
          <p:cNvSpPr/>
          <p:nvPr/>
        </p:nvSpPr>
        <p:spPr>
          <a:xfrm>
            <a:off x="8549640" y="1143000"/>
            <a:ext cx="2651760" cy="2651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ection icon" descr="Report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28800"/>
            <a:ext cx="1280160" cy="1280160"/>
          </a:xfrm>
          <a:prstGeom prst="rect">
            <a:avLst/>
          </a:prstGeom>
        </p:spPr>
      </p:pic>
      <p:sp>
        <p:nvSpPr>
          <p:cNvPr id="8" name="Topics label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IN THIS SECTION</a:t>
            </a:r>
            <a:endParaRPr lang="en-US" sz="1200" dirty="0"/>
          </a:p>
        </p:txBody>
      </p:sp>
      <p:sp>
        <p:nvSpPr>
          <p:cNvPr id="9" name="Topics"/>
          <p:cNvSpPr txBox="1"/>
          <p:nvPr/>
        </p:nvSpPr>
        <p:spPr>
          <a:xfrm>
            <a:off x="8229600" y="4526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Create an account and log in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Report an accident in 3 steps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Track your reports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Notifications, Settings and the Guide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Create your account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0-register-default.png" descr="Register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0-register-validation.png" descr="Register screen with field err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RoadWatch and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an account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1938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192024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your full name, email and (optional) phone number.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27614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2743200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a password. The meter under the field must reach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Strong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8 or more characters with lowercase, uppercase, a number and a symbol, and not your name or email.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1330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11480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account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You are signed in as a Reporter right away.</a:t>
            </a:r>
            <a:endParaRPr lang="en-US" sz="1500" dirty="0"/>
          </a:p>
        </p:txBody>
      </p:sp>
      <p:sp>
        <p:nvSpPr>
          <p:cNvPr id="19" name="Step 5 marker"/>
          <p:cNvSpPr/>
          <p:nvPr/>
        </p:nvSpPr>
        <p:spPr>
          <a:xfrm>
            <a:off x="6172200" y="49560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6172200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Step 5 text"/>
          <p:cNvSpPr txBox="1"/>
          <p:nvPr/>
        </p:nvSpPr>
        <p:spPr>
          <a:xfrm>
            <a:off x="6720840" y="493776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Errors appear under each field in red text with an icon; fix them and tap again.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Log in, or reset a forgotten password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0-login-default.png" descr="Log 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0-forgot-password-code.png" descr="Forgot password: code and new passw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your email and password and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 in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The eye button shows or hides the password.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Forgot it?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Forgot password?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enter your email and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Send code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29535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your email for an 8-character code (valid 15 minutes, works once).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37764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Type the code and a new Strong password, then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Change password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Log in with the new one.</a:t>
            </a:r>
            <a:endParaRPr lang="en-US" sz="1500" dirty="0"/>
          </a:p>
        </p:txBody>
      </p:sp>
      <p:sp>
        <p:nvSpPr>
          <p:cNvPr id="19" name="Step 5 marker"/>
          <p:cNvSpPr/>
          <p:nvPr/>
        </p:nvSpPr>
        <p:spPr>
          <a:xfrm>
            <a:off x="6172200" y="4617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5 number"/>
          <p:cNvSpPr txBox="1"/>
          <p:nvPr/>
        </p:nvSpPr>
        <p:spPr>
          <a:xfrm>
            <a:off x="617220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1" name="Step 5 text"/>
          <p:cNvSpPr txBox="1"/>
          <p:nvPr/>
        </p:nvSpPr>
        <p:spPr>
          <a:xfrm>
            <a:off x="6720840" y="45994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"Account deactivated" means an administrator turned the account off; contact support.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 an accident: details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1-home-default.png" descr="Home screen with Report an Acci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2-details-default.png" descr="Step 1 of 3: accident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Home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tap the large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 an Accident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button.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Step 1 of 3, Details: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date and time, accident type, vehicles involved and injuries (choose Unknown if you are not sure).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322783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Describe what happened in a few sentences: what you saw, the lane or direction, hazards on the road.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3434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3251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Missing required fields are named under each field.</a:t>
            </a:r>
            <a:endParaRPr lang="en-US" sz="1500" dirty="0"/>
          </a:p>
        </p:txBody>
      </p:sp>
      <p:sp>
        <p:nvSpPr>
          <p:cNvPr id="19" name="Note card"/>
          <p:cNvSpPr/>
          <p:nvPr/>
        </p:nvSpPr>
        <p:spPr>
          <a:xfrm>
            <a:off x="6172200" y="489204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0" name="Note text"/>
          <p:cNvSpPr txBox="1"/>
          <p:nvPr/>
        </p:nvSpPr>
        <p:spPr>
          <a:xfrm>
            <a:off x="6355080" y="5001768"/>
            <a:ext cx="51206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 an emergency, call first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RoadWatch is not an emergency line. Call 911 (or the PNP and BFP hotlines in Settings) before you report.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 an accident: location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3-location-pin-placed.png" descr="Step 2 of 3: location with the pin plac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3-location-full-screen-map.png" descr="Full-screen map to move the 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Step 2 of 3, Location: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my location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allow location access. The pin drops on your GPS position.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40487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 there any more? Drag the map or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 map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move the pin to the exact place, then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 this location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3520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35021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the address line (looked up from the map) and edit it if needed, for example a landmark.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3434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3251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exact pin matters: it is how the nearest on-duty officers are found.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 an accident: photos and send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4-photos-default.png" descr="Step 3 of 3: pho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5-confirmation-default.png" descr="Report sent, with the report numb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Step 3 of 3, Photos (optional):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take a photo or pick one from the gallery. JPG or PNG, up to the size shown on screen.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4048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Remove a photo with its X. Keep faces and plate numbers out of the picture where you can.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32278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Submit report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Keep the app open until it finishes uploading.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0507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confirmation shows your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 number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(for example RW-000128). You also get a "report received" email.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Track your reports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6-my-reports-default.png" descr="My reports list with status ch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6-tracking-under-review.png" descr="Report tracking with status hist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My reports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 the bottom bar. Each report shows its number, place and a status chip with the status name.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4048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Filter by status, or tap a report to see its details, photos, map and the full status history.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32278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Additional Information Required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read the remarks; the details screen says what is needed.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0507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status change also arrives in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Notifications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by email.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each status means</a:t>
            </a:r>
            <a:endParaRPr lang="en-US" sz="3000" dirty="0"/>
          </a:p>
        </p:txBody>
      </p:sp>
      <p:graphicFrame>
        <p:nvGraphicFramePr>
          <p:cNvPr id="14" name="Statu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9494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means for you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Submitted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Received; waiting for a nearby officer or an administrator.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Under Review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An administrator is checking it.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Additional Information Required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Staff need more details; see the remarks.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Verified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Confirmed as an official accident record.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Assigned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A traffic officer is responsible for it.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The officer is on scene, responding or investigating.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Resolved/Closed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The case is finished.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Not accepted (for example a duplicate); the reason is shown.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 card"/>
          <p:cNvSpPr/>
          <p:nvPr/>
        </p:nvSpPr>
        <p:spPr>
          <a:xfrm>
            <a:off x="7863840" y="123444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Note text"/>
          <p:cNvSpPr txBox="1"/>
          <p:nvPr/>
        </p:nvSpPr>
        <p:spPr>
          <a:xfrm>
            <a:off x="8046720" y="1344168"/>
            <a:ext cx="3474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 report or official record?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report stays a public submission until it is verified, by an administrator or by an officer on scene. Verified reports carry the "Verified record" badge.</a:t>
            </a:r>
            <a:endParaRPr lang="en-US" sz="1400" dirty="0"/>
          </a:p>
        </p:txBody>
      </p:sp>
      <p:sp>
        <p:nvSpPr>
          <p:cNvPr id="6" name="Note card"/>
          <p:cNvSpPr/>
          <p:nvPr/>
        </p:nvSpPr>
        <p:spPr>
          <a:xfrm>
            <a:off x="7863840" y="361188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Note text"/>
          <p:cNvSpPr txBox="1"/>
          <p:nvPr/>
        </p:nvSpPr>
        <p:spPr>
          <a:xfrm>
            <a:off x="8046720" y="3721608"/>
            <a:ext cx="34747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Who sets each status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Administrators: Under Review, Additional Information Required, Verified, Assigned, Rejected. Officers: In Progress, Additional Information Required, Resolved/Closed.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Notifications and Settings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notifications-default.png" descr="Notification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settings-main-light.png" descr="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Notifications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lists submission and status updates; tap one to open the report.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Settings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Edit profile, Change password, Appearance (Light, Dark or System), Accessibility, emergency hotlines and How to report.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322783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Demo video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plays a 30-second clip for your role, with a transcript.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0507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About RoadWatch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shows the version (1.2.0) and the team.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 out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asks you to confirm.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Guide and Read aloud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m1-guide-tour-step-1.png" descr="Guide tour on Home, step 1 of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7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: mobile/settings-accessibility.png" descr="Settings, Accessibil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9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tep 1 text"/>
          <p:cNvSpPr txBox="1"/>
          <p:nvPr/>
        </p:nvSpPr>
        <p:spPr>
          <a:xfrm>
            <a:off x="6720840" y="13075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Guide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 the top bar of Home. A ring marks one part of the screen and a card explains it: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STEP 1 OF 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2" name="Step 2 marker"/>
          <p:cNvSpPr/>
          <p:nvPr/>
        </p:nvSpPr>
        <p:spPr>
          <a:xfrm>
            <a:off x="617220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2 number"/>
          <p:cNvSpPr txBox="1"/>
          <p:nvPr/>
        </p:nvSpPr>
        <p:spPr>
          <a:xfrm>
            <a:off x="6172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tep 2 text"/>
          <p:cNvSpPr txBox="1"/>
          <p:nvPr/>
        </p:nvSpPr>
        <p:spPr>
          <a:xfrm>
            <a:off x="6720840" y="24048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;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Close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Done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ends the tour.</a:t>
            </a:r>
            <a:endParaRPr lang="en-US" sz="1500" dirty="0"/>
          </a:p>
        </p:txBody>
      </p:sp>
      <p:sp>
        <p:nvSpPr>
          <p:cNvPr id="15" name="Step 3 marker"/>
          <p:cNvSpPr/>
          <p:nvPr/>
        </p:nvSpPr>
        <p:spPr>
          <a:xfrm>
            <a:off x="6172200" y="30358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6172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tep 3 text"/>
          <p:cNvSpPr txBox="1"/>
          <p:nvPr/>
        </p:nvSpPr>
        <p:spPr>
          <a:xfrm>
            <a:off x="6720840" y="301752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Read aloud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speaks each step. Everything is also written, so sound is optional.</a:t>
            </a:r>
            <a:endParaRPr lang="en-US" sz="1500" dirty="0"/>
          </a:p>
        </p:txBody>
      </p:sp>
      <p:sp>
        <p:nvSpPr>
          <p:cNvPr id="18" name="Step 4 marker"/>
          <p:cNvSpPr/>
          <p:nvPr/>
        </p:nvSpPr>
        <p:spPr>
          <a:xfrm>
            <a:off x="6172200" y="38587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61722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tep 4 text"/>
          <p:cNvSpPr txBox="1"/>
          <p:nvPr/>
        </p:nvSpPr>
        <p:spPr>
          <a:xfrm>
            <a:off x="6720840" y="3840480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Settings › Accessibility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: turn Read aloud on, pick a reading speed, 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Start the guide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Traffic Officer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Go on duty, respond to accidents near you, and work the reports assigned to you on the Android app or the website.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73152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6" name="Section icon circle"/>
          <p:cNvSpPr/>
          <p:nvPr/>
        </p:nvSpPr>
        <p:spPr>
          <a:xfrm>
            <a:off x="8549640" y="1143000"/>
            <a:ext cx="2651760" cy="2651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ection icon" descr="Traffic Offic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28800"/>
            <a:ext cx="1280160" cy="1280160"/>
          </a:xfrm>
          <a:prstGeom prst="rect">
            <a:avLst/>
          </a:prstGeom>
        </p:spPr>
      </p:pic>
      <p:sp>
        <p:nvSpPr>
          <p:cNvPr id="8" name="Topics label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IN THIS SECTION</a:t>
            </a:r>
            <a:endParaRPr lang="en-US" sz="1200" dirty="0"/>
          </a:p>
        </p:txBody>
      </p:sp>
      <p:sp>
        <p:nvSpPr>
          <p:cNvPr id="9" name="Topics"/>
          <p:cNvSpPr txBox="1"/>
          <p:nvPr/>
        </p:nvSpPr>
        <p:spPr>
          <a:xfrm>
            <a:off x="8229600" y="4526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Sign in on the app or the website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On duty and nearby alerts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Confirm or reject on scene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Update the status and remarks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 in on the app or the website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m0-login-default.png" descr="App log i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Screen frame"/>
          <p:cNvSpPr/>
          <p:nvPr/>
        </p:nvSpPr>
        <p:spPr>
          <a:xfrm>
            <a:off x="3410712" y="1216152"/>
            <a:ext cx="4242816" cy="3027680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1-staff-choose-role-1440.png" descr="Website staff sign-in: choose your ro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4206240" cy="2991104"/>
          </a:xfrm>
          <a:prstGeom prst="rect">
            <a:avLst/>
          </a:prstGeom>
        </p:spPr>
      </p:pic>
      <p:sp>
        <p:nvSpPr>
          <p:cNvPr id="7" name="Screen frame"/>
          <p:cNvSpPr/>
          <p:nvPr/>
        </p:nvSpPr>
        <p:spPr>
          <a:xfrm>
            <a:off x="3410712" y="4462272"/>
            <a:ext cx="2414016" cy="1727200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Screen: web/w1-login-officer-1440.png" descr="Website Traffic Officer sign-in 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480560"/>
            <a:ext cx="2377440" cy="169062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989320" y="452628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Website: choose the role (top), then the Traffic Officer form (left).</a:t>
            </a:r>
            <a:endParaRPr lang="en-US" sz="1400" dirty="0"/>
          </a:p>
        </p:txBody>
      </p:sp>
      <p:sp>
        <p:nvSpPr>
          <p:cNvPr id="10" name="Step 1 marker"/>
          <p:cNvSpPr/>
          <p:nvPr/>
        </p:nvSpPr>
        <p:spPr>
          <a:xfrm>
            <a:off x="809244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1 number"/>
          <p:cNvSpPr txBox="1"/>
          <p:nvPr/>
        </p:nvSpPr>
        <p:spPr>
          <a:xfrm>
            <a:off x="80924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Step 1 text"/>
          <p:cNvSpPr txBox="1"/>
          <p:nvPr/>
        </p:nvSpPr>
        <p:spPr>
          <a:xfrm>
            <a:off x="8641080" y="1307592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 in with the email and password the administrator gave you.</a:t>
            </a:r>
            <a:endParaRPr lang="en-US" sz="1400" dirty="0"/>
          </a:p>
        </p:txBody>
      </p:sp>
      <p:sp>
        <p:nvSpPr>
          <p:cNvPr id="13" name="Step 2 marker"/>
          <p:cNvSpPr/>
          <p:nvPr/>
        </p:nvSpPr>
        <p:spPr>
          <a:xfrm>
            <a:off x="809244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2 number"/>
          <p:cNvSpPr txBox="1"/>
          <p:nvPr/>
        </p:nvSpPr>
        <p:spPr>
          <a:xfrm>
            <a:off x="80924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Step 2 text"/>
          <p:cNvSpPr txBox="1"/>
          <p:nvPr/>
        </p:nvSpPr>
        <p:spPr>
          <a:xfrm>
            <a:off x="8641080" y="24048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Website: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Staff sign-in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Traffic Officer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email and password.</a:t>
            </a:r>
            <a:endParaRPr lang="en-US" sz="1400" dirty="0"/>
          </a:p>
        </p:txBody>
      </p:sp>
      <p:sp>
        <p:nvSpPr>
          <p:cNvPr id="16" name="Step 3 marker"/>
          <p:cNvSpPr/>
          <p:nvPr/>
        </p:nvSpPr>
        <p:spPr>
          <a:xfrm>
            <a:off x="809244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3 number"/>
          <p:cNvSpPr txBox="1"/>
          <p:nvPr/>
        </p:nvSpPr>
        <p:spPr>
          <a:xfrm>
            <a:off x="80924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Step 3 text"/>
          <p:cNvSpPr txBox="1"/>
          <p:nvPr/>
        </p:nvSpPr>
        <p:spPr>
          <a:xfrm>
            <a:off x="8641080" y="3227832"/>
            <a:ext cx="3063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Picked Administrator by mistake? The form says "This is a Traffic Officer account"; go back and choose again.</a:t>
            </a:r>
            <a:endParaRPr lang="en-US" sz="1400" dirty="0"/>
          </a:p>
        </p:txBody>
      </p:sp>
      <p:sp>
        <p:nvSpPr>
          <p:cNvPr id="19" name="Step 4 marker"/>
          <p:cNvSpPr/>
          <p:nvPr/>
        </p:nvSpPr>
        <p:spPr>
          <a:xfrm>
            <a:off x="8092440" y="4617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Step 4 number"/>
          <p:cNvSpPr txBox="1"/>
          <p:nvPr/>
        </p:nvSpPr>
        <p:spPr>
          <a:xfrm>
            <a:off x="80924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Step 4 text"/>
          <p:cNvSpPr txBox="1"/>
          <p:nvPr/>
        </p:nvSpPr>
        <p:spPr>
          <a:xfrm>
            <a:off x="8641080" y="4599432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Then change the temporary password: Settings (app) or the user menu (web)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 password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assigned reports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o1-on-duty-priority.png" descr="App: Assigned with On duty and priority chi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7" name="Screen frame"/>
          <p:cNvSpPr/>
          <p:nvPr/>
        </p:nvSpPr>
        <p:spPr>
          <a:xfrm>
            <a:off x="3410712" y="1216152"/>
            <a:ext cx="4608576" cy="3287776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Screen: web/w5-officer-queue-1440.png" descr="Website: Assigned to 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4572000" cy="3251200"/>
          </a:xfrm>
          <a:prstGeom prst="rect">
            <a:avLst/>
          </a:prstGeom>
        </p:spPr>
      </p:pic>
      <p:sp>
        <p:nvSpPr>
          <p:cNvPr id="9" name="Step 1 marker"/>
          <p:cNvSpPr/>
          <p:nvPr/>
        </p:nvSpPr>
        <p:spPr>
          <a:xfrm>
            <a:off x="841248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1 number"/>
          <p:cNvSpPr txBox="1"/>
          <p:nvPr/>
        </p:nvSpPr>
        <p:spPr>
          <a:xfrm>
            <a:off x="84124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tep 1 text"/>
          <p:cNvSpPr txBox="1"/>
          <p:nvPr/>
        </p:nvSpPr>
        <p:spPr>
          <a:xfrm>
            <a:off x="8961120" y="130759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(app) and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 to 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(web) list only the reports assigned to you.</a:t>
            </a:r>
            <a:endParaRPr lang="en-US" sz="1400" dirty="0"/>
          </a:p>
        </p:txBody>
      </p:sp>
      <p:sp>
        <p:nvSpPr>
          <p:cNvPr id="12" name="Step 2 marker"/>
          <p:cNvSpPr/>
          <p:nvPr/>
        </p:nvSpPr>
        <p:spPr>
          <a:xfrm>
            <a:off x="841248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2 number"/>
          <p:cNvSpPr txBox="1"/>
          <p:nvPr/>
        </p:nvSpPr>
        <p:spPr>
          <a:xfrm>
            <a:off x="84124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tep 2 text"/>
          <p:cNvSpPr txBox="1"/>
          <p:nvPr/>
        </p:nvSpPr>
        <p:spPr>
          <a:xfrm>
            <a:off x="8961120" y="240487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report shows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chip: Urgent, High, Medium or Low.</a:t>
            </a:r>
            <a:endParaRPr lang="en-US" sz="1400" dirty="0"/>
          </a:p>
        </p:txBody>
      </p:sp>
      <p:sp>
        <p:nvSpPr>
          <p:cNvPr id="15" name="Step 3 marker"/>
          <p:cNvSpPr/>
          <p:nvPr/>
        </p:nvSpPr>
        <p:spPr>
          <a:xfrm>
            <a:off x="8412480" y="3520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84124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tep 3 text"/>
          <p:cNvSpPr txBox="1"/>
          <p:nvPr/>
        </p:nvSpPr>
        <p:spPr>
          <a:xfrm>
            <a:off x="8961120" y="3502152"/>
            <a:ext cx="2743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Sort by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Priority (Urgent first) or Newest first; filter by status.</a:t>
            </a:r>
            <a:endParaRPr lang="en-US" sz="1400" dirty="0"/>
          </a:p>
        </p:txBody>
      </p:sp>
      <p:sp>
        <p:nvSpPr>
          <p:cNvPr id="18" name="Step 4 marker"/>
          <p:cNvSpPr/>
          <p:nvPr/>
        </p:nvSpPr>
        <p:spPr>
          <a:xfrm>
            <a:off x="8412480" y="4617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84124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tep 4 text"/>
          <p:cNvSpPr txBox="1"/>
          <p:nvPr/>
        </p:nvSpPr>
        <p:spPr>
          <a:xfrm>
            <a:off x="8961120" y="459943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Tap or click a report to open it.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4663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Both lists show the same reports: use whichever is at hand. Only administrators can change a priority.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 on duty and respond to nearby accidents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o1-nearby-alert-sheet.png" descr="Accident reported near yo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7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Screen: mobile/o1-already-taken-sheet.png" descr="Already taken: another officer responded fir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9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tep 1 text"/>
          <p:cNvSpPr txBox="1"/>
          <p:nvPr/>
        </p:nvSpPr>
        <p:spPr>
          <a:xfrm>
            <a:off x="6720840" y="130759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Switch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On duty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at the top of Assigned and allow location. Your location is shared only while it is on.</a:t>
            </a:r>
            <a:endParaRPr lang="en-US" sz="1500" dirty="0"/>
          </a:p>
        </p:txBody>
      </p:sp>
      <p:sp>
        <p:nvSpPr>
          <p:cNvPr id="12" name="Step 2 marker"/>
          <p:cNvSpPr/>
          <p:nvPr/>
        </p:nvSpPr>
        <p:spPr>
          <a:xfrm>
            <a:off x="6172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2 number"/>
          <p:cNvSpPr txBox="1"/>
          <p:nvPr/>
        </p:nvSpPr>
        <p:spPr>
          <a:xfrm>
            <a:off x="6172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tep 2 text"/>
          <p:cNvSpPr txBox="1"/>
          <p:nvPr/>
        </p:nvSpPr>
        <p:spPr>
          <a:xfrm>
            <a:off x="6720840" y="2331720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someone reports an accident within the alert range, up to 3 on-duty officers get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Accident reported near you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with the priority and distance.</a:t>
            </a:r>
            <a:endParaRPr lang="en-US" sz="1500" dirty="0"/>
          </a:p>
        </p:txBody>
      </p:sp>
      <p:sp>
        <p:nvSpPr>
          <p:cNvPr id="15" name="Step 3 marker"/>
          <p:cNvSpPr/>
          <p:nvPr/>
        </p:nvSpPr>
        <p:spPr>
          <a:xfrm>
            <a:off x="6172200" y="36484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 3 number"/>
          <p:cNvSpPr txBox="1"/>
          <p:nvPr/>
        </p:nvSpPr>
        <p:spPr>
          <a:xfrm>
            <a:off x="61722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Step 3 text"/>
          <p:cNvSpPr txBox="1"/>
          <p:nvPr/>
        </p:nvSpPr>
        <p:spPr>
          <a:xfrm>
            <a:off x="6720840" y="363016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Respond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take it, 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Not now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The first officer to respond gets the report.</a:t>
            </a:r>
            <a:endParaRPr lang="en-US" sz="1500" dirty="0"/>
          </a:p>
        </p:txBody>
      </p:sp>
      <p:sp>
        <p:nvSpPr>
          <p:cNvPr id="18" name="Step 4 marker"/>
          <p:cNvSpPr/>
          <p:nvPr/>
        </p:nvSpPr>
        <p:spPr>
          <a:xfrm>
            <a:off x="6172200" y="43982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Step 4 number"/>
          <p:cNvSpPr txBox="1"/>
          <p:nvPr/>
        </p:nvSpPr>
        <p:spPr>
          <a:xfrm>
            <a:off x="617220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tep 4 text"/>
          <p:cNvSpPr txBox="1"/>
          <p:nvPr/>
        </p:nvSpPr>
        <p:spPr>
          <a:xfrm>
            <a:off x="6720840" y="4379976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Already taken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means another officer responded first; nothing more to do.</a:t>
            </a:r>
            <a:endParaRPr lang="en-US" sz="1500" dirty="0"/>
          </a:p>
        </p:txBody>
      </p:sp>
      <p:sp>
        <p:nvSpPr>
          <p:cNvPr id="21" name="Note card"/>
          <p:cNvSpPr/>
          <p:nvPr/>
        </p:nvSpPr>
        <p:spPr>
          <a:xfrm>
            <a:off x="6172200" y="52578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Note text"/>
          <p:cNvSpPr txBox="1"/>
          <p:nvPr/>
        </p:nvSpPr>
        <p:spPr>
          <a:xfrm>
            <a:off x="6355080" y="5367528"/>
            <a:ext cx="51206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On the website too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Assigned to me has the same On duty switch and alert card (allow location in the browser).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Confirm or reject on scene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Phone frame"/>
          <p:cNvSpPr/>
          <p:nvPr/>
        </p:nvSpPr>
        <p:spPr>
          <a:xfrm>
            <a:off x="621792" y="1124712"/>
            <a:ext cx="2414016" cy="520950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o2-responding-confirm-on-scene.png" descr="You are responding: Confirm on scene or Reject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149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34290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34290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3977640" y="130759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report opens with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You're responding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the distance. Use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in Maps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get there.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342900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34290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3977640" y="240487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 the scene,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Confirm on scene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 The report becomes a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Verified record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 Progress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3429000" y="3520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342900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3977640" y="3502152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accident there, or a duplicate?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Reject report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and give the reason. The administrators are told and can reopen it.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3429000" y="48920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342900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3977640" y="48737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Until you confirm, Update status stays hidden.</a:t>
            </a:r>
            <a:endParaRPr lang="en-US" sz="1500" dirty="0"/>
          </a:p>
        </p:txBody>
      </p:sp>
      <p:sp>
        <p:nvSpPr>
          <p:cNvPr id="19" name="Note card"/>
          <p:cNvSpPr/>
          <p:nvPr/>
        </p:nvSpPr>
        <p:spPr>
          <a:xfrm>
            <a:off x="8366760" y="132588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E3E9F2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Note text"/>
          <p:cNvSpPr txBox="1"/>
          <p:nvPr/>
        </p:nvSpPr>
        <p:spPr>
          <a:xfrm>
            <a:off x="8549640" y="1435608"/>
            <a:ext cx="29718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If nobody responds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After 10 minutes the alert closes and the report goes to an administrator to verify and assign as usual.</a:t>
            </a:r>
            <a:endParaRPr lang="en-US" sz="1400" dirty="0"/>
          </a:p>
        </p:txBody>
      </p:sp>
      <p:sp>
        <p:nvSpPr>
          <p:cNvPr id="21" name="Note card"/>
          <p:cNvSpPr/>
          <p:nvPr/>
        </p:nvSpPr>
        <p:spPr>
          <a:xfrm>
            <a:off x="8366760" y="3200400"/>
            <a:ext cx="3337560" cy="1600200"/>
          </a:xfrm>
          <a:prstGeom prst="roundRect">
            <a:avLst>
              <a:gd name="adj" fmla="val 685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Note text"/>
          <p:cNvSpPr txBox="1"/>
          <p:nvPr/>
        </p:nvSpPr>
        <p:spPr>
          <a:xfrm>
            <a:off x="8549640" y="3310128"/>
            <a:ext cx="29718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reporter sees it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Confirming on scene notifies the reporter, and the administrators see "Responded on scene" with your name.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 details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o2-report-details.png" descr="App: report details,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o2-report-details.png" descr="App: report details, further dow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See the place on the map;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 in Maps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starts navigation,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 map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shows it full screen.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Reporter contact: 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Call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to phone the reporter. Use it only for this case.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29535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 the details and open the photos full screen (swipe, zoom).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37764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history shows every status change with the staff member who made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Update the status and add remarks</a:t>
            </a:r>
            <a:endParaRPr lang="en-US" sz="3000" dirty="0"/>
          </a:p>
        </p:txBody>
      </p:sp>
      <p:sp>
        <p:nvSpPr>
          <p:cNvPr id="3" name="Phone frame"/>
          <p:cNvSpPr/>
          <p:nvPr/>
        </p:nvSpPr>
        <p:spPr>
          <a:xfrm>
            <a:off x="62179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: mobile/o3-update-status.png" descr="App: Update status 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2286000" cy="5080000"/>
          </a:xfrm>
          <a:prstGeom prst="rect">
            <a:avLst/>
          </a:prstGeom>
        </p:spPr>
      </p:pic>
      <p:sp>
        <p:nvSpPr>
          <p:cNvPr id="5" name="Phone frame"/>
          <p:cNvSpPr/>
          <p:nvPr/>
        </p:nvSpPr>
        <p:spPr>
          <a:xfrm>
            <a:off x="322783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Screen: mobile/o4-update-saved.png" descr="App: status sa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2286000" cy="50800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Tap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Update status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(web: the status panel on the report).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Choose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 Progress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Additional Information Required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or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Resolved/Closed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29535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the official remarks: what you found and the action taken.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37947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377647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Save. The reporter is notified in the app and by email. Rejected reports are read-only.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 the website: the notification bell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5-notifications-open-1440.png" descr="Website: notification bell panel with assignment ale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0" y="13075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bell in the top bar shows how many alerts are unread.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768096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7680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2 text"/>
          <p:cNvSpPr txBox="1"/>
          <p:nvPr/>
        </p:nvSpPr>
        <p:spPr>
          <a:xfrm>
            <a:off x="8229600" y="21305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it to see new assignments; select one to open that report.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768096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7680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3 text"/>
          <p:cNvSpPr txBox="1"/>
          <p:nvPr/>
        </p:nvSpPr>
        <p:spPr>
          <a:xfrm>
            <a:off x="8229600" y="2953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Mark all as read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clears the count.</a:t>
            </a:r>
            <a:endParaRPr lang="en-US" sz="1400" dirty="0"/>
          </a:p>
        </p:txBody>
      </p:sp>
      <p:sp>
        <p:nvSpPr>
          <p:cNvPr id="14" name="Step 4 marker"/>
          <p:cNvSpPr/>
          <p:nvPr/>
        </p:nvSpPr>
        <p:spPr>
          <a:xfrm>
            <a:off x="768096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4 number"/>
          <p:cNvSpPr txBox="1"/>
          <p:nvPr/>
        </p:nvSpPr>
        <p:spPr>
          <a:xfrm>
            <a:off x="76809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Step 4 text"/>
          <p:cNvSpPr txBox="1"/>
          <p:nvPr/>
        </p:nvSpPr>
        <p:spPr>
          <a:xfrm>
            <a:off x="8229600" y="3566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 or a click outside closes the panel.</a:t>
            </a:r>
            <a:endParaRPr lang="en-US" sz="1400" dirty="0"/>
          </a:p>
        </p:txBody>
      </p:sp>
      <p:sp>
        <p:nvSpPr>
          <p:cNvPr id="17" name="Note card"/>
          <p:cNvSpPr/>
          <p:nvPr/>
        </p:nvSpPr>
        <p:spPr>
          <a:xfrm>
            <a:off x="7680960" y="452628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Note text"/>
          <p:cNvSpPr txBox="1"/>
          <p:nvPr/>
        </p:nvSpPr>
        <p:spPr>
          <a:xfrm>
            <a:off x="7863840" y="463600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Also on the website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Demo video, Action log (your own actions), the Guide and About, from the side bar and the user menu.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Administrator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Set priorities, verify and assign reports, manage accounts and the alert range, and export summaries on the website.</a:t>
            </a:r>
            <a:endParaRPr lang="en-US" sz="1800" dirty="0"/>
          </a:p>
        </p:txBody>
      </p:sp>
      <p:sp>
        <p:nvSpPr>
          <p:cNvPr id="5" name="Section number"/>
          <p:cNvSpPr txBox="1"/>
          <p:nvPr/>
        </p:nvSpPr>
        <p:spPr>
          <a:xfrm>
            <a:off x="73152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6" name="Section icon circle"/>
          <p:cNvSpPr/>
          <p:nvPr/>
        </p:nvSpPr>
        <p:spPr>
          <a:xfrm>
            <a:off x="8549640" y="1143000"/>
            <a:ext cx="2651760" cy="2651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ection icon" descr="Administrato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28800"/>
            <a:ext cx="1280160" cy="1280160"/>
          </a:xfrm>
          <a:prstGeom prst="rect">
            <a:avLst/>
          </a:prstGeom>
        </p:spPr>
      </p:pic>
      <p:sp>
        <p:nvSpPr>
          <p:cNvPr id="8" name="Topics label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IN THIS SECTION</a:t>
            </a:r>
            <a:endParaRPr lang="en-US" sz="1200" dirty="0"/>
          </a:p>
        </p:txBody>
      </p:sp>
      <p:sp>
        <p:nvSpPr>
          <p:cNvPr id="9" name="Topics"/>
          <p:cNvSpPr txBox="1"/>
          <p:nvPr/>
        </p:nvSpPr>
        <p:spPr>
          <a:xfrm>
            <a:off x="8229600" y="4526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dashboard and finding reports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Report priority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Verify, reject and assign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Users, alert range and summaries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 in and the dashboard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2-dashboard-1440.png" descr="Administrator dashboard with summary cards and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0" y="13075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Website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Staff sign-in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Administrator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email and password.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768096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7680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2 text"/>
          <p:cNvSpPr txBox="1"/>
          <p:nvPr/>
        </p:nvSpPr>
        <p:spPr>
          <a:xfrm>
            <a:off x="8229600" y="213055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dashboard shows totals (all, pending, verified, closed), the trend and accident types.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768096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7680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3 text"/>
          <p:cNvSpPr txBox="1"/>
          <p:nvPr/>
        </p:nvSpPr>
        <p:spPr>
          <a:xfrm>
            <a:off x="8229600" y="322783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hot-spot map shows where reports cluster. Each chart has a data table for screen readers.</a:t>
            </a:r>
            <a:endParaRPr lang="en-US" sz="1400" dirty="0"/>
          </a:p>
        </p:txBody>
      </p:sp>
      <p:sp>
        <p:nvSpPr>
          <p:cNvPr id="14" name="Step 4 marker"/>
          <p:cNvSpPr/>
          <p:nvPr/>
        </p:nvSpPr>
        <p:spPr>
          <a:xfrm>
            <a:off x="7680960" y="43434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4 number"/>
          <p:cNvSpPr txBox="1"/>
          <p:nvPr/>
        </p:nvSpPr>
        <p:spPr>
          <a:xfrm>
            <a:off x="76809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Step 4 text"/>
          <p:cNvSpPr txBox="1"/>
          <p:nvPr/>
        </p:nvSpPr>
        <p:spPr>
          <a:xfrm>
            <a:off x="8229600" y="43251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Recent reports link straight to their details.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Find reports, most urgent first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3-priority-column-1440.png" descr="Reports list with the Priority column, sorted Urgent fir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8229600" y="13075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The list is sorted by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then newest.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768096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7680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8229600" y="21305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by report number (RW-000128), place or description.</a:t>
            </a:r>
            <a:endParaRPr lang="en-US" sz="1400" dirty="0"/>
          </a:p>
        </p:txBody>
      </p:sp>
      <p:sp>
        <p:nvSpPr>
          <p:cNvPr id="13" name="Step 3 marker"/>
          <p:cNvSpPr/>
          <p:nvPr/>
        </p:nvSpPr>
        <p:spPr>
          <a:xfrm>
            <a:off x="768096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7680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8229600" y="295351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 by status, priority, accident type, record type, location and dates.</a:t>
            </a:r>
            <a:endParaRPr lang="en-US" sz="1400" dirty="0"/>
          </a:p>
        </p:txBody>
      </p:sp>
      <p:sp>
        <p:nvSpPr>
          <p:cNvPr id="16" name="Step 4 marker"/>
          <p:cNvSpPr/>
          <p:nvPr/>
        </p:nvSpPr>
        <p:spPr>
          <a:xfrm>
            <a:off x="768096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76809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8229600" y="405079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line under the status shows nearby-officer activity, for example "Responded on scene".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Report priority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Screen frame"/>
          <p:cNvSpPr/>
          <p:nvPr/>
        </p:nvSpPr>
        <p:spPr>
          <a:xfrm>
            <a:off x="438912" y="1307592"/>
            <a:ext cx="4242816" cy="4042519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4-priority-set-by-admin-1440.png" descr="Priority card: Urgent, set by an adminis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206240" cy="4005943"/>
          </a:xfrm>
          <a:prstGeom prst="rect">
            <a:avLst/>
          </a:prstGeom>
        </p:spPr>
      </p:pic>
      <p:graphicFrame>
        <p:nvGraphicFramePr>
          <p:cNvPr id="28" name="Priority ru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325880"/>
          <a:ext cx="65836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Accident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Automatic priority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Pedestrian accident, hit-and-run, vehicle rollover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Collision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Other types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With fatalities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Urgent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With injuries / injuries unknown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At least High / Medium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Step 1 marker"/>
          <p:cNvSpPr/>
          <p:nvPr/>
        </p:nvSpPr>
        <p:spPr>
          <a:xfrm>
            <a:off x="5120640" y="42062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1 number"/>
          <p:cNvSpPr txBox="1"/>
          <p:nvPr/>
        </p:nvSpPr>
        <p:spPr>
          <a:xfrm>
            <a:off x="5120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tep 1 text"/>
          <p:cNvSpPr txBox="1"/>
          <p:nvPr/>
        </p:nvSpPr>
        <p:spPr>
          <a:xfrm>
            <a:off x="5669280" y="41879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 a report,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Change priority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choose a level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priority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The chip says "Set by admin" and what it was.</a:t>
            </a:r>
            <a:endParaRPr lang="en-US" sz="1400" dirty="0"/>
          </a:p>
        </p:txBody>
      </p:sp>
      <p:sp>
        <p:nvSpPr>
          <p:cNvPr id="11" name="Step 2 marker"/>
          <p:cNvSpPr/>
          <p:nvPr/>
        </p:nvSpPr>
        <p:spPr>
          <a:xfrm>
            <a:off x="5120640" y="50292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2 number"/>
          <p:cNvSpPr txBox="1"/>
          <p:nvPr/>
        </p:nvSpPr>
        <p:spPr>
          <a:xfrm>
            <a:off x="5120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Step 2 text"/>
          <p:cNvSpPr txBox="1"/>
          <p:nvPr/>
        </p:nvSpPr>
        <p:spPr>
          <a:xfrm>
            <a:off x="5669280" y="501091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 to automatic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returns to the rule above. Every change is in the Action log.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Review and verify a report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4-report-under-review-1440.png" descr="Report details, Under 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creen frame"/>
          <p:cNvSpPr/>
          <p:nvPr/>
        </p:nvSpPr>
        <p:spPr>
          <a:xfrm>
            <a:off x="7662672" y="4736592"/>
            <a:ext cx="3054096" cy="1557909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4-confirm-verified-dialog.png" descr="Confirm Verified dia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754880"/>
            <a:ext cx="3017520" cy="1521333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8229600" y="13075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details, photos (full screen) and the map.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768096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7680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8229600" y="213055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Under Review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while you check, 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Additional Information Required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with remarks.</a:t>
            </a:r>
            <a:endParaRPr lang="en-US" sz="1400" dirty="0"/>
          </a:p>
        </p:txBody>
      </p:sp>
      <p:sp>
        <p:nvSpPr>
          <p:cNvPr id="13" name="Step 3 marker"/>
          <p:cNvSpPr/>
          <p:nvPr/>
        </p:nvSpPr>
        <p:spPr>
          <a:xfrm>
            <a:off x="768096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7680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8229600" y="32278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turns it into an official record (badge "Verified record").</a:t>
            </a:r>
            <a:endParaRPr lang="en-US" sz="1400" dirty="0"/>
          </a:p>
        </p:txBody>
      </p:sp>
      <p:sp>
        <p:nvSpPr>
          <p:cNvPr id="16" name="Step 4 marker"/>
          <p:cNvSpPr/>
          <p:nvPr/>
        </p:nvSpPr>
        <p:spPr>
          <a:xfrm>
            <a:off x="768096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76809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8229600" y="40507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Reject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needs a reason, which the reporter sees.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Assign a traffic officer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4-report-assigned-1440.png" descr="Report details with an assigned offi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0" y="13075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Verified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report can be assigned.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768096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7680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2 text"/>
          <p:cNvSpPr txBox="1"/>
          <p:nvPr/>
        </p:nvSpPr>
        <p:spPr>
          <a:xfrm>
            <a:off x="8229600" y="213055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 officer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choose an active Traffic Officer and save.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768096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7680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3 text"/>
          <p:cNvSpPr txBox="1"/>
          <p:nvPr/>
        </p:nvSpPr>
        <p:spPr>
          <a:xfrm>
            <a:off x="8229600" y="295351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status becomes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Assigned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; the officer gets an alert and the reporter an update.</a:t>
            </a:r>
            <a:endParaRPr lang="en-US" sz="1400" dirty="0"/>
          </a:p>
        </p:txBody>
      </p:sp>
      <p:sp>
        <p:nvSpPr>
          <p:cNvPr id="14" name="Step 4 marker"/>
          <p:cNvSpPr/>
          <p:nvPr/>
        </p:nvSpPr>
        <p:spPr>
          <a:xfrm>
            <a:off x="768096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4 number"/>
          <p:cNvSpPr txBox="1"/>
          <p:nvPr/>
        </p:nvSpPr>
        <p:spPr>
          <a:xfrm>
            <a:off x="76809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Step 4 text"/>
          <p:cNvSpPr txBox="1"/>
          <p:nvPr/>
        </p:nvSpPr>
        <p:spPr>
          <a:xfrm>
            <a:off x="8229600" y="405079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report a nearby officer already confirmed on scene is assigned to that officer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Manage users from the toolbar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Screen frame"/>
          <p:cNvSpPr/>
          <p:nvPr/>
        </p:nvSpPr>
        <p:spPr>
          <a:xfrm>
            <a:off x="438912" y="1216152"/>
            <a:ext cx="6803136" cy="3889756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6-toolbar-selected-1440.png" descr="Users and settings with one account selec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3853180"/>
          </a:xfrm>
          <a:prstGeom prst="rect">
            <a:avLst/>
          </a:prstGeom>
        </p:spPr>
      </p:pic>
      <p:sp>
        <p:nvSpPr>
          <p:cNvPr id="7" name="Screen frame"/>
          <p:cNvSpPr/>
          <p:nvPr/>
        </p:nvSpPr>
        <p:spPr>
          <a:xfrm>
            <a:off x="7662672" y="3639312"/>
            <a:ext cx="1865376" cy="2375916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8" name="Screen: web/w6-edit-account-dialog.png" descr="Edit account dia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0"/>
            <a:ext cx="1828800" cy="2339340"/>
          </a:xfrm>
          <a:prstGeom prst="rect">
            <a:avLst/>
          </a:prstGeom>
        </p:spPr>
      </p:pic>
      <p:sp>
        <p:nvSpPr>
          <p:cNvPr id="9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tep 1 text"/>
          <p:cNvSpPr txBox="1"/>
          <p:nvPr/>
        </p:nvSpPr>
        <p:spPr>
          <a:xfrm>
            <a:off x="8229600" y="1307592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 an account with its round button, then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Edit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: name, phone, role, reset password, deactivate or reactivate.</a:t>
            </a:r>
            <a:endParaRPr lang="en-US" sz="1400" dirty="0"/>
          </a:p>
        </p:txBody>
      </p:sp>
      <p:sp>
        <p:nvSpPr>
          <p:cNvPr id="12" name="Step 2 marker"/>
          <p:cNvSpPr/>
          <p:nvPr/>
        </p:nvSpPr>
        <p:spPr>
          <a:xfrm>
            <a:off x="7680960" y="2697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 2 number"/>
          <p:cNvSpPr txBox="1"/>
          <p:nvPr/>
        </p:nvSpPr>
        <p:spPr>
          <a:xfrm>
            <a:off x="76809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tep 2 text"/>
          <p:cNvSpPr txBox="1"/>
          <p:nvPr/>
        </p:nvSpPr>
        <p:spPr>
          <a:xfrm>
            <a:off x="8229600" y="267919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Create officer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opens a dialog: name, email, phone and a Strong temporary password.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692640" y="3703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You cannot change your own role or deactivate yourself.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Set the alert range for nearby officers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Screen frame"/>
          <p:cNvSpPr/>
          <p:nvPr/>
        </p:nvSpPr>
        <p:spPr>
          <a:xfrm>
            <a:off x="438912" y="1307592"/>
            <a:ext cx="5248656" cy="3694176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6-toolbar-selected-1440.png" descr="Nearby officers card with the alert ra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212080" cy="3657600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617220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6172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6720840" y="13075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Users and settings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find 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Nearby officers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card.</a:t>
            </a:r>
            <a:endParaRPr lang="en-US" sz="1500" dirty="0"/>
          </a:p>
        </p:txBody>
      </p:sp>
      <p:sp>
        <p:nvSpPr>
          <p:cNvPr id="10" name="Step 2 marker"/>
          <p:cNvSpPr/>
          <p:nvPr/>
        </p:nvSpPr>
        <p:spPr>
          <a:xfrm>
            <a:off x="6172200" y="21488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6172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6720840" y="213055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Type the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Alert range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in kilometres (default 5) and press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Save range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Step 3 marker"/>
          <p:cNvSpPr/>
          <p:nvPr/>
        </p:nvSpPr>
        <p:spPr>
          <a:xfrm>
            <a:off x="6172200" y="2971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6172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6720840" y="2953512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New reports then alert up to 3 on-duty officers within that straight-line distance of the report's pin.</a:t>
            </a:r>
            <a:endParaRPr lang="en-US" sz="1500" dirty="0"/>
          </a:p>
        </p:txBody>
      </p:sp>
      <p:sp>
        <p:nvSpPr>
          <p:cNvPr id="16" name="Step 4 marker"/>
          <p:cNvSpPr/>
          <p:nvPr/>
        </p:nvSpPr>
        <p:spPr>
          <a:xfrm>
            <a:off x="6172200" y="40690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6172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6720840" y="405079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nobody responds in 10 minutes, the report comes to you to verify and assign.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Summaries and exports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7-summaries-1440.png" descr="Summaries page with period and 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0" y="1307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Summaries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7680960" y="1938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76809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2 text"/>
          <p:cNvSpPr txBox="1"/>
          <p:nvPr/>
        </p:nvSpPr>
        <p:spPr>
          <a:xfrm>
            <a:off x="8229600" y="19202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Pick the period: daily, weekly, monthly or annual, and the date.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7680960" y="276148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768096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3 text"/>
          <p:cNvSpPr txBox="1"/>
          <p:nvPr/>
        </p:nvSpPr>
        <p:spPr>
          <a:xfrm>
            <a:off x="8229600" y="2743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totals by status and accident type.</a:t>
            </a:r>
            <a:endParaRPr lang="en-US" sz="1400" dirty="0"/>
          </a:p>
        </p:txBody>
      </p:sp>
      <p:sp>
        <p:nvSpPr>
          <p:cNvPr id="14" name="Step 4 marker"/>
          <p:cNvSpPr/>
          <p:nvPr/>
        </p:nvSpPr>
        <p:spPr>
          <a:xfrm>
            <a:off x="768096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4 number"/>
          <p:cNvSpPr txBox="1"/>
          <p:nvPr/>
        </p:nvSpPr>
        <p:spPr>
          <a:xfrm>
            <a:off x="76809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Step 4 text"/>
          <p:cNvSpPr txBox="1"/>
          <p:nvPr/>
        </p:nvSpPr>
        <p:spPr>
          <a:xfrm>
            <a:off x="8229600" y="356616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PDF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for printing 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CSV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for a spreadsheet; both include the priority.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Action log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8-action-log-all-staff-1440.png" descr="Action log, All staff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1 text"/>
          <p:cNvSpPr txBox="1"/>
          <p:nvPr/>
        </p:nvSpPr>
        <p:spPr>
          <a:xfrm>
            <a:off x="8229600" y="13075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User menu →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Action log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7680960" y="19385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 number"/>
          <p:cNvSpPr txBox="1"/>
          <p:nvPr/>
        </p:nvSpPr>
        <p:spPr>
          <a:xfrm>
            <a:off x="76809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tep 2 text"/>
          <p:cNvSpPr txBox="1"/>
          <p:nvPr/>
        </p:nvSpPr>
        <p:spPr>
          <a:xfrm>
            <a:off x="8229600" y="192024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 actions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lists your own;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All staff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(administrators only) lists every staff action.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7680960" y="30358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76809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3 text"/>
          <p:cNvSpPr txBox="1"/>
          <p:nvPr/>
        </p:nvSpPr>
        <p:spPr>
          <a:xfrm>
            <a:off x="8229600" y="3017520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it to check who verified, assigned, changed a priority or the alert range, or deactivated an account.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Good to know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Guide on the website, your account, and what to do when something goes wrong.</a:t>
            </a:r>
            <a:endParaRPr lang="en-US" sz="18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731520" y="914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04</a:t>
            </a:r>
            <a:endParaRPr lang="en-US" sz="7200" dirty="0"/>
          </a:p>
        </p:txBody>
      </p:sp>
      <p:sp>
        <p:nvSpPr>
          <p:cNvPr id="5" name="Section icon circle"/>
          <p:cNvSpPr/>
          <p:nvPr/>
        </p:nvSpPr>
        <p:spPr>
          <a:xfrm>
            <a:off x="8549640" y="1143000"/>
            <a:ext cx="2651760" cy="2651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Section icon" descr="Good to know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1828800"/>
            <a:ext cx="1280160" cy="1280160"/>
          </a:xfrm>
          <a:prstGeom prst="rect">
            <a:avLst/>
          </a:prstGeom>
        </p:spPr>
      </p:pic>
      <p:sp>
        <p:nvSpPr>
          <p:cNvPr id="7" name="Topics label"/>
          <p:cNvSpPr txBox="1"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IN THIS SECTION</a:t>
            </a:r>
            <a:endParaRPr lang="en-US" sz="1200" dirty="0"/>
          </a:p>
        </p:txBody>
      </p:sp>
      <p:sp>
        <p:nvSpPr>
          <p:cNvPr id="8" name="Topics"/>
          <p:cNvSpPr txBox="1"/>
          <p:nvPr/>
        </p:nvSpPr>
        <p:spPr>
          <a:xfrm>
            <a:off x="8229600" y="45262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Guide on the website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Your account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Troubleshooting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Privacy, safety and accessibility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4F6F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Guide on the website</a:t>
            </a:r>
            <a:endParaRPr lang="en-US" sz="3000" dirty="0"/>
          </a:p>
        </p:txBody>
      </p:sp>
      <p:sp>
        <p:nvSpPr>
          <p:cNvPr id="3" name="New in 1.2 tag"/>
          <p:cNvSpPr/>
          <p:nvPr/>
        </p:nvSpPr>
        <p:spPr>
          <a:xfrm>
            <a:off x="1028700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ew in 1.2 label"/>
          <p:cNvSpPr txBox="1"/>
          <p:nvPr/>
        </p:nvSpPr>
        <p:spPr>
          <a:xfrm>
            <a:off x="10287000" y="4572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tx1"/>
                </a:solidFill>
              </a:rPr>
              <a:t>NEW IN 1.2</a:t>
            </a:r>
            <a:endParaRPr lang="en-US" sz="1200" dirty="0"/>
          </a:p>
        </p:txBody>
      </p:sp>
      <p:sp>
        <p:nvSpPr>
          <p:cNvPr id="5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2-guide-tour-step-2-1440.png" descr="Guide tour on the dashboard, step 2 of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8229600" y="1307592"/>
            <a:ext cx="3474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Press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Guide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in the top bar (on a phone: account menu → Guide) on Dashboard, Reports, a report, Users and settings, or Assigned to me.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7680960" y="26974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76809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8229600" y="26791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ring marks one part of the page; the card explains it, step by step.</a:t>
            </a:r>
            <a:endParaRPr lang="en-US" sz="1400" dirty="0"/>
          </a:p>
        </p:txBody>
      </p:sp>
      <p:sp>
        <p:nvSpPr>
          <p:cNvPr id="13" name="Step 3 marker"/>
          <p:cNvSpPr/>
          <p:nvPr/>
        </p:nvSpPr>
        <p:spPr>
          <a:xfrm>
            <a:off x="7680960" y="35204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7680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8229600" y="350215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Keyboard: Tab moves inside the card, ← and → change steps, Esc closes it.</a:t>
            </a:r>
            <a:endParaRPr lang="en-US" sz="1400" dirty="0"/>
          </a:p>
        </p:txBody>
      </p:sp>
      <p:sp>
        <p:nvSpPr>
          <p:cNvPr id="16" name="Step 4 marker"/>
          <p:cNvSpPr/>
          <p:nvPr/>
        </p:nvSpPr>
        <p:spPr>
          <a:xfrm>
            <a:off x="7680960" y="4617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 4 number"/>
          <p:cNvSpPr txBox="1"/>
          <p:nvPr/>
        </p:nvSpPr>
        <p:spPr>
          <a:xfrm>
            <a:off x="7680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Step 4 text"/>
          <p:cNvSpPr txBox="1"/>
          <p:nvPr/>
        </p:nvSpPr>
        <p:spPr>
          <a:xfrm>
            <a:off x="8229600" y="459943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aloud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and the speed button are optional; every step is written.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Your account on the website</a:t>
            </a:r>
            <a:endParaRPr lang="en-US" sz="3000" dirty="0"/>
          </a:p>
        </p:txBody>
      </p:sp>
      <p:sp>
        <p:nvSpPr>
          <p:cNvPr id="3" name="Screen frame"/>
          <p:cNvSpPr/>
          <p:nvPr/>
        </p:nvSpPr>
        <p:spPr>
          <a:xfrm>
            <a:off x="438912" y="1216152"/>
            <a:ext cx="6803136" cy="484835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: web/w2-dashboard-user-menu-1440.png" descr="User menu open on the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766560" cy="4811776"/>
          </a:xfrm>
          <a:prstGeom prst="rect">
            <a:avLst/>
          </a:prstGeom>
        </p:spPr>
      </p:pic>
      <p:sp>
        <p:nvSpPr>
          <p:cNvPr id="5" name="Screen frame"/>
          <p:cNvSpPr/>
          <p:nvPr/>
        </p:nvSpPr>
        <p:spPr>
          <a:xfrm>
            <a:off x="7662672" y="3685032"/>
            <a:ext cx="2048256" cy="2450592"/>
          </a:xfrm>
          <a:prstGeom prst="rect">
            <a:avLst/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6" name="Screen: web/w2-change-password-dialog.png" descr="Change password dial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703320"/>
            <a:ext cx="2011680" cy="2414016"/>
          </a:xfrm>
          <a:prstGeom prst="rect">
            <a:avLst/>
          </a:prstGeom>
        </p:spPr>
      </p:pic>
      <p:sp>
        <p:nvSpPr>
          <p:cNvPr id="7" name="Step 1 marker"/>
          <p:cNvSpPr/>
          <p:nvPr/>
        </p:nvSpPr>
        <p:spPr>
          <a:xfrm>
            <a:off x="7680960" y="13258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1 number"/>
          <p:cNvSpPr txBox="1"/>
          <p:nvPr/>
        </p:nvSpPr>
        <p:spPr>
          <a:xfrm>
            <a:off x="76809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1 text"/>
          <p:cNvSpPr txBox="1"/>
          <p:nvPr/>
        </p:nvSpPr>
        <p:spPr>
          <a:xfrm>
            <a:off x="8229600" y="1307592"/>
            <a:ext cx="3474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Click your name for the user menu: Edit profile, Change password, Action log, Contact support, About.</a:t>
            </a:r>
            <a:endParaRPr lang="en-US" sz="1400" dirty="0"/>
          </a:p>
        </p:txBody>
      </p:sp>
      <p:sp>
        <p:nvSpPr>
          <p:cNvPr id="10" name="Step 2 marker"/>
          <p:cNvSpPr/>
          <p:nvPr/>
        </p:nvSpPr>
        <p:spPr>
          <a:xfrm>
            <a:off x="7680960" y="242316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768096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tep 2 text"/>
          <p:cNvSpPr txBox="1"/>
          <p:nvPr/>
        </p:nvSpPr>
        <p:spPr>
          <a:xfrm>
            <a:off x="8229600" y="240487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sun and moon switch sets Light or Dark.</a:t>
            </a:r>
            <a:endParaRPr lang="en-US" sz="1400" dirty="0"/>
          </a:p>
        </p:txBody>
      </p:sp>
      <p:sp>
        <p:nvSpPr>
          <p:cNvPr id="13" name="Step 3 marker"/>
          <p:cNvSpPr/>
          <p:nvPr/>
        </p:nvSpPr>
        <p:spPr>
          <a:xfrm>
            <a:off x="7680960" y="32461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3 number"/>
          <p:cNvSpPr txBox="1"/>
          <p:nvPr/>
        </p:nvSpPr>
        <p:spPr>
          <a:xfrm>
            <a:off x="76809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3 text"/>
          <p:cNvSpPr txBox="1"/>
          <p:nvPr/>
        </p:nvSpPr>
        <p:spPr>
          <a:xfrm>
            <a:off x="8229600" y="32278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 out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asks you to confirm.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921240" y="374904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New passwords must reach Strong on the meter.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When something goes wrong</a:t>
            </a:r>
            <a:endParaRPr lang="en-US" sz="3000" dirty="0"/>
          </a:p>
        </p:txBody>
      </p:sp>
      <p:graphicFrame>
        <p:nvGraphicFramePr>
          <p:cNvPr id="38" name="Troubleshoo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92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If you see…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Do this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The app says the server may be waking up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Wait up to a minute and try again (the free server sleeps when idle).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"This account uses the mobile app" on the website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It is a Reporter account: use the Android app.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"This is an Administrator / Traffic Officer account"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Go back with "Choose a different role" and pick the right one.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"Account deactivated" or a password that will not save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Contact support; new passwords must reach Strong on the meter.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Forgot the password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Use "Forgot password?"; the code is in your email for 15 minutes.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No nearby alerts as an officer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Turn On duty on, allow location, and keep Assigned open.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"Already taken"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Another officer responded first; the report is in good hands.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</a:rPr>
                        <a:t>No location, or the pin is wrong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545"/>
                          </a:solidFill>
                        </a:rPr>
                        <a:t>Allow location access, or move the pin on the full-screen map.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Privacy, safety and accessibility</a:t>
            </a:r>
            <a:endParaRPr lang="en-US" sz="3000" dirty="0"/>
          </a:p>
        </p:txBody>
      </p:sp>
      <p:sp>
        <p:nvSpPr>
          <p:cNvPr id="3" name="Your data icon circle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Your data icon" descr="Your dat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2801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Your data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Passwords are stored hashed. Reporter contact details are shown only to administrators and the assigned officer. An officer's location is shared only while On duty.</a:t>
            </a:r>
            <a:endParaRPr lang="en-US" sz="2000" dirty="0"/>
          </a:p>
        </p:txBody>
      </p:sp>
      <p:sp>
        <p:nvSpPr>
          <p:cNvPr id="6" name="Safety first icon circle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Safety first icon" descr="Safety fir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880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Safety first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Report only when it is safe: pull over, never while driving. Call 911 for emergencies.</a:t>
            </a:r>
            <a:endParaRPr lang="en-US" sz="2000" dirty="0"/>
          </a:p>
        </p:txBody>
      </p:sp>
      <p:sp>
        <p:nvSpPr>
          <p:cNvPr id="9" name="Accessible icon circle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Accessible icon" descr="Accessib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916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44805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Accessible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Built for WCAG 2.1 AA: labels on every field, keyboard use on the web, text on every status and priority, the Guide with Read aloud, Light and Dark.</a:t>
            </a:r>
            <a:endParaRPr lang="en-US" sz="2000" dirty="0"/>
          </a:p>
        </p:txBody>
      </p:sp>
      <p:sp>
        <p:nvSpPr>
          <p:cNvPr id="12" name="Phone frame"/>
          <p:cNvSpPr/>
          <p:nvPr/>
        </p:nvSpPr>
        <p:spPr>
          <a:xfrm>
            <a:off x="8439912" y="1124712"/>
            <a:ext cx="2414016" cy="5208016"/>
          </a:xfrm>
          <a:prstGeom prst="roundRect">
            <a:avLst>
              <a:gd name="adj" fmla="val 68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3" name="Screen: mobile/settings-emergency-hotlines.png" descr="Settings: emergency hot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188720"/>
            <a:ext cx="2286000" cy="5080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y overla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88000"/>
            </a:scheme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Need help?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support@roadwatch-ph.me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Website: www.roadwatch-ph.me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Android app: www.roadwatch-ph.me/app</a:t>
            </a:r>
            <a:endParaRPr lang="en-US" sz="1800" dirty="0"/>
          </a:p>
        </p:txBody>
      </p:sp>
      <p:pic>
        <p:nvPicPr>
          <p:cNvPr id="5" name="Emblem" descr="RoadWatch embl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828800"/>
            <a:ext cx="2651760" cy="2651760"/>
          </a:xfrm>
          <a:prstGeom prst="rect">
            <a:avLst/>
          </a:prstGeom>
        </p:spPr>
      </p:pic>
      <p:sp>
        <p:nvSpPr>
          <p:cNvPr id="6" name="Credit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RoadWatch User Guide, version 1.2.0  ·  Prepared by Princess Lorellyn Isip, Documentation Lead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adWatch">
  <a:themeElements>
    <a:clrScheme name="RoadWatch">
      <a:dk1>
        <a:srgbClr val="0B2545"/>
      </a:dk1>
      <a:lt1>
        <a:srgbClr val="FFFFFF"/>
      </a:lt1>
      <a:dk2>
        <a:srgbClr val="4A5B73"/>
      </a:dk2>
      <a:lt2>
        <a:srgbClr val="F4F6F9"/>
      </a:lt2>
      <a:accent1>
        <a:srgbClr val="0B2545"/>
      </a:accent1>
      <a:accent2>
        <a:srgbClr val="F2A900"/>
      </a:accent2>
      <a:accent3>
        <a:srgbClr val="2F6296"/>
      </a:accent3>
      <a:accent4>
        <a:srgbClr val="1F6F4A"/>
      </a:accent4>
      <a:accent5>
        <a:srgbClr val="B42B2B"/>
      </a:accent5>
      <a:accent6>
        <a:srgbClr val="E3E9F2"/>
      </a:accent6>
      <a:hlink>
        <a:srgbClr val="2F6296"/>
      </a:hlink>
      <a:folHlink>
        <a:srgbClr val="2F6296"/>
      </a:folHlink>
    </a:clrScheme>
    <a:fontScheme name="RoadWat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RoadWatch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RoadWatch User Guide</dc:title>
  <dc:subject>How to use RoadWatch v1.2.0: Reporter app, Traffic Officer app and web portal, Administrator website</dc:subject>
  <dc:creator>Princess Lorellyn Isip</dc:creator>
  <cp:lastModifiedBy>Princess Lorellyn Isip</cp:lastModifiedBy>
  <cp:revision>1</cp:revision>
  <dcterms:created xsi:type="dcterms:W3CDTF">2026-10-30T14:45:43Z</dcterms:created>
  <dcterms:modified xsi:type="dcterms:W3CDTF">2026-10-30T14:45:43Z</dcterms:modified>
</cp:coreProperties>
</file>